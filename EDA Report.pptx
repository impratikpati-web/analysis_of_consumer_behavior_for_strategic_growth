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1" d="100"/>
          <a:sy n="81" d="100"/>
        </p:scale>
        <p:origin x="75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6B345DA-151D-4030-9DE8-BC0FA6D19761}" type="datetimeFigureOut">
              <a:rPr lang="en-IN" smtClean="0"/>
              <a:t>30-04-2026</a:t>
            </a:fld>
            <a:endParaRPr lang="en-IN"/>
          </a:p>
        </p:txBody>
      </p:sp>
      <p:sp>
        <p:nvSpPr>
          <p:cNvPr id="5" name="Footer Placeholder 4"/>
          <p:cNvSpPr>
            <a:spLocks noGrp="1"/>
          </p:cNvSpPr>
          <p:nvPr>
            <p:ph type="ftr" sz="quarter" idx="11"/>
          </p:nvPr>
        </p:nvSpPr>
        <p:spPr>
          <a:xfrm>
            <a:off x="5332412" y="5883275"/>
            <a:ext cx="4324044" cy="365125"/>
          </a:xfrm>
        </p:spPr>
        <p:txBody>
          <a:bodyPr/>
          <a:lstStyle/>
          <a:p>
            <a:endParaRPr lang="en-IN"/>
          </a:p>
        </p:txBody>
      </p:sp>
      <p:sp>
        <p:nvSpPr>
          <p:cNvPr id="6" name="Slide Number Placeholder 5"/>
          <p:cNvSpPr>
            <a:spLocks noGrp="1"/>
          </p:cNvSpPr>
          <p:nvPr>
            <p:ph type="sldNum" sz="quarter" idx="12"/>
          </p:nvPr>
        </p:nvSpPr>
        <p:spPr/>
        <p:txBody>
          <a:bodyPr/>
          <a:lstStyle/>
          <a:p>
            <a:fld id="{FBA14CA0-3986-4538-B8D9-20EB03C5D184}" type="slidenum">
              <a:rPr lang="en-IN" smtClean="0"/>
              <a:t>‹#›</a:t>
            </a:fld>
            <a:endParaRPr lang="en-IN"/>
          </a:p>
        </p:txBody>
      </p:sp>
    </p:spTree>
    <p:extLst>
      <p:ext uri="{BB962C8B-B14F-4D97-AF65-F5344CB8AC3E}">
        <p14:creationId xmlns:p14="http://schemas.microsoft.com/office/powerpoint/2010/main" val="6976656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6B345DA-151D-4030-9DE8-BC0FA6D19761}" type="datetimeFigureOut">
              <a:rPr lang="en-IN" smtClean="0"/>
              <a:t>30-04-2026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10951856" y="5867131"/>
            <a:ext cx="551167" cy="365125"/>
          </a:xfrm>
        </p:spPr>
        <p:txBody>
          <a:bodyPr/>
          <a:lstStyle/>
          <a:p>
            <a:fld id="{FBA14CA0-3986-4538-B8D9-20EB03C5D184}" type="slidenum">
              <a:rPr lang="en-IN" smtClean="0"/>
              <a:t>‹#›</a:t>
            </a:fld>
            <a:endParaRPr lang="en-IN"/>
          </a:p>
        </p:txBody>
      </p:sp>
    </p:spTree>
    <p:extLst>
      <p:ext uri="{BB962C8B-B14F-4D97-AF65-F5344CB8AC3E}">
        <p14:creationId xmlns:p14="http://schemas.microsoft.com/office/powerpoint/2010/main" val="13156512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6B345DA-151D-4030-9DE8-BC0FA6D19761}" type="datetimeFigureOut">
              <a:rPr lang="en-IN" smtClean="0"/>
              <a:t>30-04-2026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BA14CA0-3986-4538-B8D9-20EB03C5D184}" type="slidenum">
              <a:rPr lang="en-IN" smtClean="0"/>
              <a:t>‹#›</a:t>
            </a:fld>
            <a:endParaRPr lang="en-IN"/>
          </a:p>
        </p:txBody>
      </p:sp>
    </p:spTree>
    <p:extLst>
      <p:ext uri="{BB962C8B-B14F-4D97-AF65-F5344CB8AC3E}">
        <p14:creationId xmlns:p14="http://schemas.microsoft.com/office/powerpoint/2010/main" val="4922008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6B345DA-151D-4030-9DE8-BC0FA6D19761}" type="datetimeFigureOut">
              <a:rPr lang="en-IN" smtClean="0"/>
              <a:t>30-04-2026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BA14CA0-3986-4538-B8D9-20EB03C5D184}" type="slidenum">
              <a:rPr lang="en-IN" smtClean="0"/>
              <a:t>‹#›</a:t>
            </a:fld>
            <a:endParaRPr lang="en-IN"/>
          </a:p>
        </p:txBody>
      </p:sp>
    </p:spTree>
    <p:extLst>
      <p:ext uri="{BB962C8B-B14F-4D97-AF65-F5344CB8AC3E}">
        <p14:creationId xmlns:p14="http://schemas.microsoft.com/office/powerpoint/2010/main" val="23884547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6B345DA-151D-4030-9DE8-BC0FA6D19761}" type="datetimeFigureOut">
              <a:rPr lang="en-IN" smtClean="0"/>
              <a:t>30-04-2026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BA14CA0-3986-4538-B8D9-20EB03C5D184}" type="slidenum">
              <a:rPr lang="en-IN" smtClean="0"/>
              <a:t>‹#›</a:t>
            </a:fld>
            <a:endParaRPr lang="en-IN"/>
          </a:p>
        </p:txBody>
      </p:sp>
    </p:spTree>
    <p:extLst>
      <p:ext uri="{BB962C8B-B14F-4D97-AF65-F5344CB8AC3E}">
        <p14:creationId xmlns:p14="http://schemas.microsoft.com/office/powerpoint/2010/main" val="36534135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6B345DA-151D-4030-9DE8-BC0FA6D19761}" type="datetimeFigureOut">
              <a:rPr lang="en-IN" smtClean="0"/>
              <a:t>30-04-2026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BA14CA0-3986-4538-B8D9-20EB03C5D184}" type="slidenum">
              <a:rPr lang="en-IN" smtClean="0"/>
              <a:t>‹#›</a:t>
            </a:fld>
            <a:endParaRPr lang="en-IN"/>
          </a:p>
        </p:txBody>
      </p:sp>
    </p:spTree>
    <p:extLst>
      <p:ext uri="{BB962C8B-B14F-4D97-AF65-F5344CB8AC3E}">
        <p14:creationId xmlns:p14="http://schemas.microsoft.com/office/powerpoint/2010/main" val="25988781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6B345DA-151D-4030-9DE8-BC0FA6D19761}" type="datetimeFigureOut">
              <a:rPr lang="en-IN" smtClean="0"/>
              <a:t>30-04-2026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BA14CA0-3986-4538-B8D9-20EB03C5D184}" type="slidenum">
              <a:rPr lang="en-IN" smtClean="0"/>
              <a:t>‹#›</a:t>
            </a:fld>
            <a:endParaRPr lang="en-IN"/>
          </a:p>
        </p:txBody>
      </p:sp>
    </p:spTree>
    <p:extLst>
      <p:ext uri="{BB962C8B-B14F-4D97-AF65-F5344CB8AC3E}">
        <p14:creationId xmlns:p14="http://schemas.microsoft.com/office/powerpoint/2010/main" val="35714459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6B345DA-151D-4030-9DE8-BC0FA6D19761}" type="datetimeFigureOut">
              <a:rPr lang="en-IN" smtClean="0"/>
              <a:t>30-04-2026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BA14CA0-3986-4538-B8D9-20EB03C5D184}" type="slidenum">
              <a:rPr lang="en-IN" smtClean="0"/>
              <a:t>‹#›</a:t>
            </a:fld>
            <a:endParaRPr lang="en-IN"/>
          </a:p>
        </p:txBody>
      </p:sp>
    </p:spTree>
    <p:extLst>
      <p:ext uri="{BB962C8B-B14F-4D97-AF65-F5344CB8AC3E}">
        <p14:creationId xmlns:p14="http://schemas.microsoft.com/office/powerpoint/2010/main" val="12059132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6B345DA-151D-4030-9DE8-BC0FA6D19761}" type="datetimeFigureOut">
              <a:rPr lang="en-IN" smtClean="0"/>
              <a:t>30-04-2026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BA14CA0-3986-4538-B8D9-20EB03C5D184}" type="slidenum">
              <a:rPr lang="en-IN" smtClean="0"/>
              <a:t>‹#›</a:t>
            </a:fld>
            <a:endParaRPr lang="en-IN"/>
          </a:p>
        </p:txBody>
      </p:sp>
    </p:spTree>
    <p:extLst>
      <p:ext uri="{BB962C8B-B14F-4D97-AF65-F5344CB8AC3E}">
        <p14:creationId xmlns:p14="http://schemas.microsoft.com/office/powerpoint/2010/main" val="28203760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6B345DA-151D-4030-9DE8-BC0FA6D19761}" type="datetimeFigureOut">
              <a:rPr lang="en-IN" smtClean="0"/>
              <a:t>30-04-2026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BA14CA0-3986-4538-B8D9-20EB03C5D184}" type="slidenum">
              <a:rPr lang="en-IN" smtClean="0"/>
              <a:t>‹#›</a:t>
            </a:fld>
            <a:endParaRPr lang="en-IN"/>
          </a:p>
        </p:txBody>
      </p:sp>
    </p:spTree>
    <p:extLst>
      <p:ext uri="{BB962C8B-B14F-4D97-AF65-F5344CB8AC3E}">
        <p14:creationId xmlns:p14="http://schemas.microsoft.com/office/powerpoint/2010/main" val="29233815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6B345DA-151D-4030-9DE8-BC0FA6D19761}" type="datetimeFigureOut">
              <a:rPr lang="en-IN" smtClean="0"/>
              <a:t>30-04-2026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BA14CA0-3986-4538-B8D9-20EB03C5D184}" type="slidenum">
              <a:rPr lang="en-IN" smtClean="0"/>
              <a:t>‹#›</a:t>
            </a:fld>
            <a:endParaRPr lang="en-IN"/>
          </a:p>
        </p:txBody>
      </p:sp>
    </p:spTree>
    <p:extLst>
      <p:ext uri="{BB962C8B-B14F-4D97-AF65-F5344CB8AC3E}">
        <p14:creationId xmlns:p14="http://schemas.microsoft.com/office/powerpoint/2010/main" val="16022142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6B345DA-151D-4030-9DE8-BC0FA6D19761}" type="datetimeFigureOut">
              <a:rPr lang="en-IN" smtClean="0"/>
              <a:t>30-04-2026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BA14CA0-3986-4538-B8D9-20EB03C5D184}" type="slidenum">
              <a:rPr lang="en-IN" smtClean="0"/>
              <a:t>‹#›</a:t>
            </a:fld>
            <a:endParaRPr lang="en-IN"/>
          </a:p>
        </p:txBody>
      </p:sp>
    </p:spTree>
    <p:extLst>
      <p:ext uri="{BB962C8B-B14F-4D97-AF65-F5344CB8AC3E}">
        <p14:creationId xmlns:p14="http://schemas.microsoft.com/office/powerpoint/2010/main" val="20468796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6B345DA-151D-4030-9DE8-BC0FA6D19761}" type="datetimeFigureOut">
              <a:rPr lang="en-IN" smtClean="0"/>
              <a:t>30-04-2026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BA14CA0-3986-4538-B8D9-20EB03C5D184}" type="slidenum">
              <a:rPr lang="en-IN" smtClean="0"/>
              <a:t>‹#›</a:t>
            </a:fld>
            <a:endParaRPr lang="en-IN"/>
          </a:p>
        </p:txBody>
      </p:sp>
    </p:spTree>
    <p:extLst>
      <p:ext uri="{BB962C8B-B14F-4D97-AF65-F5344CB8AC3E}">
        <p14:creationId xmlns:p14="http://schemas.microsoft.com/office/powerpoint/2010/main" val="56066216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6B345DA-151D-4030-9DE8-BC0FA6D19761}" type="datetimeFigureOut">
              <a:rPr lang="en-IN" smtClean="0"/>
              <a:t>30-04-2026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BA14CA0-3986-4538-B8D9-20EB03C5D184}" type="slidenum">
              <a:rPr lang="en-IN" smtClean="0"/>
              <a:t>‹#›</a:t>
            </a:fld>
            <a:endParaRPr lang="en-IN"/>
          </a:p>
        </p:txBody>
      </p:sp>
    </p:spTree>
    <p:extLst>
      <p:ext uri="{BB962C8B-B14F-4D97-AF65-F5344CB8AC3E}">
        <p14:creationId xmlns:p14="http://schemas.microsoft.com/office/powerpoint/2010/main" val="14097552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6B345DA-151D-4030-9DE8-BC0FA6D19761}" type="datetimeFigureOut">
              <a:rPr lang="en-IN" smtClean="0"/>
              <a:t>30-04-2026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BA14CA0-3986-4538-B8D9-20EB03C5D184}" type="slidenum">
              <a:rPr lang="en-IN" smtClean="0"/>
              <a:t>‹#›</a:t>
            </a:fld>
            <a:endParaRPr lang="en-IN"/>
          </a:p>
        </p:txBody>
      </p:sp>
    </p:spTree>
    <p:extLst>
      <p:ext uri="{BB962C8B-B14F-4D97-AF65-F5344CB8AC3E}">
        <p14:creationId xmlns:p14="http://schemas.microsoft.com/office/powerpoint/2010/main" val="39352194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6B345DA-151D-4030-9DE8-BC0FA6D19761}" type="datetimeFigureOut">
              <a:rPr lang="en-IN" smtClean="0"/>
              <a:t>30-04-2026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BA14CA0-3986-4538-B8D9-20EB03C5D184}" type="slidenum">
              <a:rPr lang="en-IN" smtClean="0"/>
              <a:t>‹#›</a:t>
            </a:fld>
            <a:endParaRPr lang="en-IN"/>
          </a:p>
        </p:txBody>
      </p:sp>
    </p:spTree>
    <p:extLst>
      <p:ext uri="{BB962C8B-B14F-4D97-AF65-F5344CB8AC3E}">
        <p14:creationId xmlns:p14="http://schemas.microsoft.com/office/powerpoint/2010/main" val="41221905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6B345DA-151D-4030-9DE8-BC0FA6D19761}" type="datetimeFigureOut">
              <a:rPr lang="en-IN" smtClean="0"/>
              <a:t>30-04-2026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BA14CA0-3986-4538-B8D9-20EB03C5D184}" type="slidenum">
              <a:rPr lang="en-IN" smtClean="0"/>
              <a:t>‹#›</a:t>
            </a:fld>
            <a:endParaRPr lang="en-IN"/>
          </a:p>
        </p:txBody>
      </p:sp>
    </p:spTree>
    <p:extLst>
      <p:ext uri="{BB962C8B-B14F-4D97-AF65-F5344CB8AC3E}">
        <p14:creationId xmlns:p14="http://schemas.microsoft.com/office/powerpoint/2010/main" val="6629009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6B345DA-151D-4030-9DE8-BC0FA6D19761}" type="datetimeFigureOut">
              <a:rPr lang="en-IN" smtClean="0"/>
              <a:t>30-04-2026</a:t>
            </a:fld>
            <a:endParaRPr lang="en-IN"/>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FBA14CA0-3986-4538-B8D9-20EB03C5D184}" type="slidenum">
              <a:rPr lang="en-IN" smtClean="0"/>
              <a:t>‹#›</a:t>
            </a:fld>
            <a:endParaRPr lang="en-IN"/>
          </a:p>
        </p:txBody>
      </p:sp>
    </p:spTree>
    <p:extLst>
      <p:ext uri="{BB962C8B-B14F-4D97-AF65-F5344CB8AC3E}">
        <p14:creationId xmlns:p14="http://schemas.microsoft.com/office/powerpoint/2010/main" val="1441248051"/>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4" r:id="rId12"/>
    <p:sldLayoutId id="2147483745" r:id="rId13"/>
    <p:sldLayoutId id="2147483746" r:id="rId14"/>
    <p:sldLayoutId id="2147483747" r:id="rId15"/>
    <p:sldLayoutId id="2147483748" r:id="rId16"/>
    <p:sldLayoutId id="2147483749"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95CED94-4E25-9C21-8FE2-5E6F63C5F05E}"/>
              </a:ext>
            </a:extLst>
          </p:cNvPr>
          <p:cNvSpPr txBox="1"/>
          <p:nvPr/>
        </p:nvSpPr>
        <p:spPr>
          <a:xfrm>
            <a:off x="2061328" y="2274838"/>
            <a:ext cx="8069343" cy="2308324"/>
          </a:xfrm>
          <a:prstGeom prst="rect">
            <a:avLst/>
          </a:prstGeom>
          <a:noFill/>
        </p:spPr>
        <p:txBody>
          <a:bodyPr wrap="square" rtlCol="0">
            <a:spAutoFit/>
          </a:bodyPr>
          <a:lstStyle/>
          <a:p>
            <a:pPr algn="ctr"/>
            <a:r>
              <a:rPr lang="en-IN" sz="4800" dirty="0">
                <a:effectLst>
                  <a:outerShdw blurRad="38100" dist="38100" dir="2700000" algn="tl">
                    <a:srgbClr val="000000">
                      <a:alpha val="43137"/>
                    </a:srgbClr>
                  </a:outerShdw>
                </a:effectLst>
                <a:latin typeface="Algerian" panose="04020705040A02060702" pitchFamily="82" charset="0"/>
              </a:rPr>
              <a:t>ANALYSIS OF CONSUMER BEHAVIOR FOR STRATEGIC GROWTH</a:t>
            </a:r>
          </a:p>
        </p:txBody>
      </p:sp>
    </p:spTree>
    <p:extLst>
      <p:ext uri="{BB962C8B-B14F-4D97-AF65-F5344CB8AC3E}">
        <p14:creationId xmlns:p14="http://schemas.microsoft.com/office/powerpoint/2010/main" val="7362666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6E164-038D-15F0-6A86-2912B255A30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E504C93-A3C9-F99C-34E5-AD4ADA946536}"/>
              </a:ext>
            </a:extLst>
          </p:cNvPr>
          <p:cNvSpPr txBox="1"/>
          <p:nvPr/>
        </p:nvSpPr>
        <p:spPr>
          <a:xfrm>
            <a:off x="4237347" y="904973"/>
            <a:ext cx="3717303" cy="523220"/>
          </a:xfrm>
          <a:prstGeom prst="rect">
            <a:avLst/>
          </a:prstGeom>
          <a:noFill/>
        </p:spPr>
        <p:txBody>
          <a:bodyPr wrap="square" rtlCol="0">
            <a:spAutoFit/>
          </a:bodyPr>
          <a:lstStyle/>
          <a:p>
            <a:r>
              <a:rPr lang="en-IN" sz="2800" b="1" u="sng" dirty="0">
                <a:effectLst>
                  <a:outerShdw blurRad="38100" dist="38100" dir="2700000" algn="tl">
                    <a:srgbClr val="000000">
                      <a:alpha val="43137"/>
                    </a:srgbClr>
                  </a:outerShdw>
                </a:effectLst>
                <a:latin typeface="Algerian" panose="04020705040A02060702" pitchFamily="82" charset="0"/>
              </a:rPr>
              <a:t>PROJECT OVERVIEW</a:t>
            </a:r>
          </a:p>
        </p:txBody>
      </p:sp>
      <p:sp>
        <p:nvSpPr>
          <p:cNvPr id="3" name="TextBox 2">
            <a:extLst>
              <a:ext uri="{FF2B5EF4-FFF2-40B4-BE49-F238E27FC236}">
                <a16:creationId xmlns:a16="http://schemas.microsoft.com/office/drawing/2014/main" id="{A7D204FE-ECDB-E331-CA8A-41DB5ED6E450}"/>
              </a:ext>
            </a:extLst>
          </p:cNvPr>
          <p:cNvSpPr txBox="1"/>
          <p:nvPr/>
        </p:nvSpPr>
        <p:spPr>
          <a:xfrm>
            <a:off x="2158737" y="2274838"/>
            <a:ext cx="7874524" cy="2308324"/>
          </a:xfrm>
          <a:prstGeom prst="rect">
            <a:avLst/>
          </a:prstGeom>
          <a:noFill/>
        </p:spPr>
        <p:txBody>
          <a:bodyPr wrap="square" rtlCol="0">
            <a:spAutoFit/>
          </a:bodyPr>
          <a:lstStyle/>
          <a:p>
            <a:pPr algn="ctr"/>
            <a:r>
              <a:rPr lang="en-IN" sz="2400" b="1" dirty="0">
                <a:latin typeface="Bodoni MT" panose="02070603080606020203" pitchFamily="18" charset="0"/>
              </a:rPr>
              <a:t>The project analyses consumer shopping behaviour using the transactional data from 3900 purchases across various product categories. The goal is to provide insights into spending patterns, customer segments, product preferences, and subscription behaviour to guide strategic business decisions.</a:t>
            </a:r>
          </a:p>
        </p:txBody>
      </p:sp>
    </p:spTree>
    <p:extLst>
      <p:ext uri="{BB962C8B-B14F-4D97-AF65-F5344CB8AC3E}">
        <p14:creationId xmlns:p14="http://schemas.microsoft.com/office/powerpoint/2010/main" val="32161762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214204-DE0D-B7AC-008B-DC3B9D5CF07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6F66040-09B7-2AB0-639B-EBB47531E7D3}"/>
              </a:ext>
            </a:extLst>
          </p:cNvPr>
          <p:cNvSpPr txBox="1"/>
          <p:nvPr/>
        </p:nvSpPr>
        <p:spPr>
          <a:xfrm>
            <a:off x="4345757" y="942680"/>
            <a:ext cx="4015818" cy="523220"/>
          </a:xfrm>
          <a:prstGeom prst="rect">
            <a:avLst/>
          </a:prstGeom>
          <a:noFill/>
        </p:spPr>
        <p:txBody>
          <a:bodyPr wrap="square" rtlCol="0">
            <a:spAutoFit/>
          </a:bodyPr>
          <a:lstStyle/>
          <a:p>
            <a:r>
              <a:rPr lang="en-IN" sz="2800" b="1" u="sng" dirty="0">
                <a:latin typeface="Algerian" panose="04020705040A02060702" pitchFamily="82" charset="0"/>
              </a:rPr>
              <a:t>Gender distribution</a:t>
            </a:r>
          </a:p>
        </p:txBody>
      </p:sp>
      <p:sp>
        <p:nvSpPr>
          <p:cNvPr id="5" name="TextBox 4">
            <a:extLst>
              <a:ext uri="{FF2B5EF4-FFF2-40B4-BE49-F238E27FC236}">
                <a16:creationId xmlns:a16="http://schemas.microsoft.com/office/drawing/2014/main" id="{7F5554ED-42C8-0AB2-9E32-C4E6EFB66CCB}"/>
              </a:ext>
            </a:extLst>
          </p:cNvPr>
          <p:cNvSpPr txBox="1"/>
          <p:nvPr/>
        </p:nvSpPr>
        <p:spPr>
          <a:xfrm>
            <a:off x="3139126" y="2139885"/>
            <a:ext cx="3214540" cy="1569660"/>
          </a:xfrm>
          <a:prstGeom prst="rect">
            <a:avLst/>
          </a:prstGeom>
          <a:noFill/>
        </p:spPr>
        <p:txBody>
          <a:bodyPr wrap="square" rtlCol="0">
            <a:spAutoFit/>
          </a:bodyPr>
          <a:lstStyle/>
          <a:p>
            <a:pPr marL="342900" indent="-342900">
              <a:buFont typeface="Wingdings" panose="05000000000000000000" pitchFamily="2" charset="2"/>
              <a:buChar char="Ø"/>
            </a:pPr>
            <a:r>
              <a:rPr lang="en-IN" sz="2400" b="1" dirty="0">
                <a:latin typeface="Bodoni MT" panose="02070603080606020203" pitchFamily="18" charset="0"/>
              </a:rPr>
              <a:t>Shows consumer base split.</a:t>
            </a:r>
          </a:p>
          <a:p>
            <a:pPr marL="342900" indent="-342900">
              <a:buFont typeface="Wingdings" panose="05000000000000000000" pitchFamily="2" charset="2"/>
              <a:buChar char="Ø"/>
            </a:pPr>
            <a:r>
              <a:rPr lang="en-IN" sz="2400" b="1" dirty="0">
                <a:latin typeface="Bodoni MT" panose="02070603080606020203" pitchFamily="18" charset="0"/>
              </a:rPr>
              <a:t>Male consumers are higher.</a:t>
            </a:r>
          </a:p>
        </p:txBody>
      </p:sp>
      <p:pic>
        <p:nvPicPr>
          <p:cNvPr id="11" name="Picture 10">
            <a:extLst>
              <a:ext uri="{FF2B5EF4-FFF2-40B4-BE49-F238E27FC236}">
                <a16:creationId xmlns:a16="http://schemas.microsoft.com/office/drawing/2014/main" id="{31C10AA3-7E24-7EB5-4983-1603280BAE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86920" y="2613779"/>
            <a:ext cx="4783568" cy="3928710"/>
          </a:xfrm>
          <a:prstGeom prst="rect">
            <a:avLst/>
          </a:prstGeom>
        </p:spPr>
      </p:pic>
    </p:spTree>
    <p:extLst>
      <p:ext uri="{BB962C8B-B14F-4D97-AF65-F5344CB8AC3E}">
        <p14:creationId xmlns:p14="http://schemas.microsoft.com/office/powerpoint/2010/main" val="29372048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E904A2-815D-2784-50A2-A3F8D1B0B9F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FA05D84-977C-E95F-0BF1-FA08086F32BF}"/>
              </a:ext>
            </a:extLst>
          </p:cNvPr>
          <p:cNvSpPr txBox="1"/>
          <p:nvPr/>
        </p:nvSpPr>
        <p:spPr>
          <a:xfrm>
            <a:off x="4418029" y="697584"/>
            <a:ext cx="3355942" cy="523220"/>
          </a:xfrm>
          <a:prstGeom prst="rect">
            <a:avLst/>
          </a:prstGeom>
          <a:noFill/>
        </p:spPr>
        <p:txBody>
          <a:bodyPr wrap="square" rtlCol="0">
            <a:spAutoFit/>
          </a:bodyPr>
          <a:lstStyle/>
          <a:p>
            <a:pPr algn="ctr"/>
            <a:r>
              <a:rPr lang="en-IN" sz="2800" b="1" u="sng" dirty="0">
                <a:latin typeface="Algerian" panose="04020705040A02060702" pitchFamily="82" charset="0"/>
              </a:rPr>
              <a:t>Age Distribution</a:t>
            </a:r>
          </a:p>
        </p:txBody>
      </p:sp>
      <p:pic>
        <p:nvPicPr>
          <p:cNvPr id="6" name="Picture 5">
            <a:extLst>
              <a:ext uri="{FF2B5EF4-FFF2-40B4-BE49-F238E27FC236}">
                <a16:creationId xmlns:a16="http://schemas.microsoft.com/office/drawing/2014/main" id="{2D55D78C-DD3A-B916-6238-82B4E957EB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64371" y="2561715"/>
            <a:ext cx="5027629" cy="4204443"/>
          </a:xfrm>
          <a:prstGeom prst="rect">
            <a:avLst/>
          </a:prstGeom>
        </p:spPr>
      </p:pic>
      <p:sp>
        <p:nvSpPr>
          <p:cNvPr id="8" name="TextBox 7">
            <a:extLst>
              <a:ext uri="{FF2B5EF4-FFF2-40B4-BE49-F238E27FC236}">
                <a16:creationId xmlns:a16="http://schemas.microsoft.com/office/drawing/2014/main" id="{50EDE867-F655-F45C-446C-624A62DB8819}"/>
              </a:ext>
            </a:extLst>
          </p:cNvPr>
          <p:cNvSpPr txBox="1"/>
          <p:nvPr/>
        </p:nvSpPr>
        <p:spPr>
          <a:xfrm>
            <a:off x="2950590" y="1611984"/>
            <a:ext cx="2922309" cy="2677656"/>
          </a:xfrm>
          <a:prstGeom prst="rect">
            <a:avLst/>
          </a:prstGeom>
          <a:noFill/>
        </p:spPr>
        <p:txBody>
          <a:bodyPr wrap="square" rtlCol="0">
            <a:spAutoFit/>
          </a:bodyPr>
          <a:lstStyle/>
          <a:p>
            <a:pPr marL="285750" indent="-285750">
              <a:buFont typeface="Wingdings" panose="05000000000000000000" pitchFamily="2" charset="2"/>
              <a:buChar char="Ø"/>
            </a:pPr>
            <a:r>
              <a:rPr lang="en-IN" sz="2400" b="1" dirty="0">
                <a:latin typeface="Bodoni MT" panose="02070603080606020203" pitchFamily="18" charset="0"/>
              </a:rPr>
              <a:t>Shows consumers spreads across age groups.</a:t>
            </a:r>
          </a:p>
          <a:p>
            <a:pPr marL="285750" indent="-285750">
              <a:buFont typeface="Wingdings" panose="05000000000000000000" pitchFamily="2" charset="2"/>
              <a:buChar char="Ø"/>
            </a:pPr>
            <a:r>
              <a:rPr lang="en-IN" sz="2400" b="1" dirty="0">
                <a:latin typeface="Bodoni MT" panose="02070603080606020203" pitchFamily="18" charset="0"/>
              </a:rPr>
              <a:t>There is balances age demographic i.e. wide target audience.</a:t>
            </a:r>
          </a:p>
        </p:txBody>
      </p:sp>
    </p:spTree>
    <p:extLst>
      <p:ext uri="{BB962C8B-B14F-4D97-AF65-F5344CB8AC3E}">
        <p14:creationId xmlns:p14="http://schemas.microsoft.com/office/powerpoint/2010/main" val="33779477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488EA-8E8C-2CAB-EBB2-1BCBC539A63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BFCA4FD-0037-0269-7674-134110649E0F}"/>
              </a:ext>
            </a:extLst>
          </p:cNvPr>
          <p:cNvSpPr txBox="1"/>
          <p:nvPr/>
        </p:nvSpPr>
        <p:spPr>
          <a:xfrm>
            <a:off x="3135983" y="782425"/>
            <a:ext cx="5920033" cy="523220"/>
          </a:xfrm>
          <a:prstGeom prst="rect">
            <a:avLst/>
          </a:prstGeom>
          <a:noFill/>
        </p:spPr>
        <p:txBody>
          <a:bodyPr wrap="square" rtlCol="0">
            <a:spAutoFit/>
          </a:bodyPr>
          <a:lstStyle/>
          <a:p>
            <a:r>
              <a:rPr lang="en-IN" sz="2800" b="1" u="sng" dirty="0">
                <a:latin typeface="Algerian" panose="04020705040A02060702" pitchFamily="82" charset="0"/>
              </a:rPr>
              <a:t>Purchase amount distribution</a:t>
            </a:r>
          </a:p>
        </p:txBody>
      </p:sp>
      <p:pic>
        <p:nvPicPr>
          <p:cNvPr id="5" name="Picture 4">
            <a:extLst>
              <a:ext uri="{FF2B5EF4-FFF2-40B4-BE49-F238E27FC236}">
                <a16:creationId xmlns:a16="http://schemas.microsoft.com/office/drawing/2014/main" id="{FA924D3B-CCAD-5CB9-6764-6A6B48FDBB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31595" y="3242821"/>
            <a:ext cx="7860406" cy="3615179"/>
          </a:xfrm>
          <a:prstGeom prst="rect">
            <a:avLst/>
          </a:prstGeom>
        </p:spPr>
      </p:pic>
      <p:sp>
        <p:nvSpPr>
          <p:cNvPr id="7" name="TextBox 6">
            <a:extLst>
              <a:ext uri="{FF2B5EF4-FFF2-40B4-BE49-F238E27FC236}">
                <a16:creationId xmlns:a16="http://schemas.microsoft.com/office/drawing/2014/main" id="{26DB465A-C738-0CA7-45CD-DB92FC1B0519}"/>
              </a:ext>
            </a:extLst>
          </p:cNvPr>
          <p:cNvSpPr txBox="1"/>
          <p:nvPr/>
        </p:nvSpPr>
        <p:spPr>
          <a:xfrm>
            <a:off x="2554665" y="1768932"/>
            <a:ext cx="6777872" cy="830997"/>
          </a:xfrm>
          <a:prstGeom prst="rect">
            <a:avLst/>
          </a:prstGeom>
          <a:noFill/>
        </p:spPr>
        <p:txBody>
          <a:bodyPr wrap="square" rtlCol="0">
            <a:spAutoFit/>
          </a:bodyPr>
          <a:lstStyle/>
          <a:p>
            <a:pPr marL="285750" indent="-285750">
              <a:buFont typeface="Wingdings" panose="05000000000000000000" pitchFamily="2" charset="2"/>
              <a:buChar char="Ø"/>
            </a:pPr>
            <a:r>
              <a:rPr lang="en-IN" sz="2400" b="1" dirty="0">
                <a:latin typeface="Bodoni MT" panose="02070603080606020203" pitchFamily="18" charset="0"/>
              </a:rPr>
              <a:t>Shows spending behaviour.</a:t>
            </a:r>
          </a:p>
          <a:p>
            <a:pPr marL="285750" indent="-285750">
              <a:buFont typeface="Wingdings" panose="05000000000000000000" pitchFamily="2" charset="2"/>
              <a:buChar char="Ø"/>
            </a:pPr>
            <a:r>
              <a:rPr lang="en-IN" sz="2400" b="1" dirty="0">
                <a:latin typeface="Bodoni MT" panose="02070603080606020203" pitchFamily="18" charset="0"/>
              </a:rPr>
              <a:t>Most consumers spends in mid-range.</a:t>
            </a:r>
          </a:p>
        </p:txBody>
      </p:sp>
    </p:spTree>
    <p:extLst>
      <p:ext uri="{BB962C8B-B14F-4D97-AF65-F5344CB8AC3E}">
        <p14:creationId xmlns:p14="http://schemas.microsoft.com/office/powerpoint/2010/main" val="9801278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E7015B-B7B7-B37C-129C-5793F8B3F70C}"/>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0190D2B7-8716-ADEF-C9C7-A04C76AA9E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99522" y="3676454"/>
            <a:ext cx="6592478" cy="3181546"/>
          </a:xfrm>
          <a:prstGeom prst="rect">
            <a:avLst/>
          </a:prstGeom>
        </p:spPr>
      </p:pic>
      <p:sp>
        <p:nvSpPr>
          <p:cNvPr id="6" name="TextBox 5">
            <a:extLst>
              <a:ext uri="{FF2B5EF4-FFF2-40B4-BE49-F238E27FC236}">
                <a16:creationId xmlns:a16="http://schemas.microsoft.com/office/drawing/2014/main" id="{046DA548-BF10-9C78-C1C5-D0AFA3F54DEF}"/>
              </a:ext>
            </a:extLst>
          </p:cNvPr>
          <p:cNvSpPr txBox="1"/>
          <p:nvPr/>
        </p:nvSpPr>
        <p:spPr>
          <a:xfrm>
            <a:off x="3894841" y="556181"/>
            <a:ext cx="4402317" cy="523220"/>
          </a:xfrm>
          <a:prstGeom prst="rect">
            <a:avLst/>
          </a:prstGeom>
          <a:noFill/>
        </p:spPr>
        <p:txBody>
          <a:bodyPr wrap="square" rtlCol="0">
            <a:spAutoFit/>
          </a:bodyPr>
          <a:lstStyle/>
          <a:p>
            <a:r>
              <a:rPr lang="en-IN" sz="2800" b="1" u="sng" dirty="0">
                <a:latin typeface="Algerian" panose="04020705040A02060702" pitchFamily="82" charset="0"/>
              </a:rPr>
              <a:t>Category distribution</a:t>
            </a:r>
          </a:p>
        </p:txBody>
      </p:sp>
      <p:sp>
        <p:nvSpPr>
          <p:cNvPr id="8" name="TextBox 7">
            <a:extLst>
              <a:ext uri="{FF2B5EF4-FFF2-40B4-BE49-F238E27FC236}">
                <a16:creationId xmlns:a16="http://schemas.microsoft.com/office/drawing/2014/main" id="{1B57A340-E822-CC22-A309-6EFF05F65CC7}"/>
              </a:ext>
            </a:extLst>
          </p:cNvPr>
          <p:cNvSpPr txBox="1"/>
          <p:nvPr/>
        </p:nvSpPr>
        <p:spPr>
          <a:xfrm>
            <a:off x="2366128" y="1338606"/>
            <a:ext cx="5165888" cy="1569660"/>
          </a:xfrm>
          <a:prstGeom prst="rect">
            <a:avLst/>
          </a:prstGeom>
          <a:noFill/>
        </p:spPr>
        <p:txBody>
          <a:bodyPr wrap="square" rtlCol="0">
            <a:spAutoFit/>
          </a:bodyPr>
          <a:lstStyle/>
          <a:p>
            <a:pPr marL="285750" indent="-285750">
              <a:buFont typeface="Wingdings" panose="05000000000000000000" pitchFamily="2" charset="2"/>
              <a:buChar char="Ø"/>
            </a:pPr>
            <a:r>
              <a:rPr lang="en-IN" sz="2400" b="1" dirty="0">
                <a:latin typeface="Bodoni MT" panose="02070603080606020203" pitchFamily="18" charset="0"/>
              </a:rPr>
              <a:t>Highlights most purchased categories.</a:t>
            </a:r>
          </a:p>
          <a:p>
            <a:pPr marL="285750" indent="-285750">
              <a:buFont typeface="Wingdings" panose="05000000000000000000" pitchFamily="2" charset="2"/>
              <a:buChar char="Ø"/>
            </a:pPr>
            <a:r>
              <a:rPr lang="en-IN" sz="2400" b="1" dirty="0">
                <a:latin typeface="Bodoni MT" panose="02070603080606020203" pitchFamily="18" charset="0"/>
              </a:rPr>
              <a:t>Clothing dominates, key revenue driver.</a:t>
            </a:r>
          </a:p>
        </p:txBody>
      </p:sp>
    </p:spTree>
    <p:extLst>
      <p:ext uri="{BB962C8B-B14F-4D97-AF65-F5344CB8AC3E}">
        <p14:creationId xmlns:p14="http://schemas.microsoft.com/office/powerpoint/2010/main" val="4887135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76E7E5-854C-6032-9F13-778E0516F0A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56A403C-FC16-8A0E-8E09-9EA912F633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86400" y="4138366"/>
            <a:ext cx="6705600" cy="2719633"/>
          </a:xfrm>
          <a:prstGeom prst="rect">
            <a:avLst/>
          </a:prstGeom>
        </p:spPr>
      </p:pic>
      <p:sp>
        <p:nvSpPr>
          <p:cNvPr id="5" name="TextBox 4">
            <a:extLst>
              <a:ext uri="{FF2B5EF4-FFF2-40B4-BE49-F238E27FC236}">
                <a16:creationId xmlns:a16="http://schemas.microsoft.com/office/drawing/2014/main" id="{5D735CC7-2A06-AB8F-5E8F-1173F4DCBCCA}"/>
              </a:ext>
            </a:extLst>
          </p:cNvPr>
          <p:cNvSpPr txBox="1"/>
          <p:nvPr/>
        </p:nvSpPr>
        <p:spPr>
          <a:xfrm>
            <a:off x="3008721" y="688157"/>
            <a:ext cx="6174557" cy="523220"/>
          </a:xfrm>
          <a:prstGeom prst="rect">
            <a:avLst/>
          </a:prstGeom>
          <a:noFill/>
        </p:spPr>
        <p:txBody>
          <a:bodyPr wrap="square" rtlCol="0">
            <a:spAutoFit/>
          </a:bodyPr>
          <a:lstStyle/>
          <a:p>
            <a:r>
              <a:rPr lang="en-IN" sz="2800" b="1" u="sng" dirty="0">
                <a:latin typeface="Algerian" panose="04020705040A02060702" pitchFamily="82" charset="0"/>
              </a:rPr>
              <a:t>Purchased amount by category</a:t>
            </a:r>
          </a:p>
        </p:txBody>
      </p:sp>
      <p:sp>
        <p:nvSpPr>
          <p:cNvPr id="7" name="TextBox 6">
            <a:extLst>
              <a:ext uri="{FF2B5EF4-FFF2-40B4-BE49-F238E27FC236}">
                <a16:creationId xmlns:a16="http://schemas.microsoft.com/office/drawing/2014/main" id="{697493B9-AED6-A48C-BB8B-5DE705C9FADA}"/>
              </a:ext>
            </a:extLst>
          </p:cNvPr>
          <p:cNvSpPr txBox="1"/>
          <p:nvPr/>
        </p:nvSpPr>
        <p:spPr>
          <a:xfrm>
            <a:off x="3008721" y="2017336"/>
            <a:ext cx="4410174" cy="1569660"/>
          </a:xfrm>
          <a:prstGeom prst="rect">
            <a:avLst/>
          </a:prstGeom>
          <a:noFill/>
        </p:spPr>
        <p:txBody>
          <a:bodyPr wrap="square" rtlCol="0">
            <a:spAutoFit/>
          </a:bodyPr>
          <a:lstStyle/>
          <a:p>
            <a:pPr marL="285750" indent="-285750">
              <a:buFont typeface="Wingdings" panose="05000000000000000000" pitchFamily="2" charset="2"/>
              <a:buChar char="Ø"/>
            </a:pPr>
            <a:r>
              <a:rPr lang="en-IN" sz="2400" b="1" dirty="0">
                <a:latin typeface="Bodoni MT" panose="02070603080606020203" pitchFamily="18" charset="0"/>
              </a:rPr>
              <a:t>Shows spending variation per category.</a:t>
            </a:r>
          </a:p>
          <a:p>
            <a:pPr marL="285750" indent="-285750">
              <a:buFont typeface="Wingdings" panose="05000000000000000000" pitchFamily="2" charset="2"/>
              <a:buChar char="Ø"/>
            </a:pPr>
            <a:r>
              <a:rPr lang="en-IN" sz="2400" b="1" dirty="0">
                <a:latin typeface="Bodoni MT" panose="02070603080606020203" pitchFamily="18" charset="0"/>
              </a:rPr>
              <a:t>Some categories have higher value purchase.</a:t>
            </a:r>
          </a:p>
        </p:txBody>
      </p:sp>
    </p:spTree>
    <p:extLst>
      <p:ext uri="{BB962C8B-B14F-4D97-AF65-F5344CB8AC3E}">
        <p14:creationId xmlns:p14="http://schemas.microsoft.com/office/powerpoint/2010/main" val="19553630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336935-07E6-C13F-AC9D-1609F2FDFDE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CF73174-13C5-AD13-5AD0-C7D028529C07}"/>
              </a:ext>
            </a:extLst>
          </p:cNvPr>
          <p:cNvSpPr txBox="1"/>
          <p:nvPr/>
        </p:nvSpPr>
        <p:spPr>
          <a:xfrm>
            <a:off x="4012676" y="791851"/>
            <a:ext cx="4166648" cy="523220"/>
          </a:xfrm>
          <a:prstGeom prst="rect">
            <a:avLst/>
          </a:prstGeom>
          <a:noFill/>
        </p:spPr>
        <p:txBody>
          <a:bodyPr wrap="square" rtlCol="0">
            <a:spAutoFit/>
          </a:bodyPr>
          <a:lstStyle/>
          <a:p>
            <a:r>
              <a:rPr lang="en-IN" sz="2800" b="1" u="sng" dirty="0">
                <a:latin typeface="Algerian" panose="04020705040A02060702" pitchFamily="82" charset="0"/>
              </a:rPr>
              <a:t>Key Business Insights</a:t>
            </a:r>
          </a:p>
        </p:txBody>
      </p:sp>
      <p:sp>
        <p:nvSpPr>
          <p:cNvPr id="4" name="TextBox 3">
            <a:extLst>
              <a:ext uri="{FF2B5EF4-FFF2-40B4-BE49-F238E27FC236}">
                <a16:creationId xmlns:a16="http://schemas.microsoft.com/office/drawing/2014/main" id="{6A100E0F-0882-F533-B657-DFE85BAF7F11}"/>
              </a:ext>
            </a:extLst>
          </p:cNvPr>
          <p:cNvSpPr txBox="1"/>
          <p:nvPr/>
        </p:nvSpPr>
        <p:spPr>
          <a:xfrm>
            <a:off x="3183117" y="1810390"/>
            <a:ext cx="5825765" cy="2677656"/>
          </a:xfrm>
          <a:prstGeom prst="rect">
            <a:avLst/>
          </a:prstGeom>
          <a:noFill/>
        </p:spPr>
        <p:txBody>
          <a:bodyPr wrap="square" rtlCol="0">
            <a:spAutoFit/>
          </a:bodyPr>
          <a:lstStyle/>
          <a:p>
            <a:pPr marL="285750" indent="-285750">
              <a:buFont typeface="Wingdings" panose="05000000000000000000" pitchFamily="2" charset="2"/>
              <a:buChar char="Ø"/>
            </a:pPr>
            <a:r>
              <a:rPr lang="en-IN" sz="2400" b="1" dirty="0">
                <a:latin typeface="Bodoni MT" panose="02070603080606020203" pitchFamily="18" charset="0"/>
              </a:rPr>
              <a:t>Clothing is the top performing category.</a:t>
            </a:r>
          </a:p>
          <a:p>
            <a:pPr marL="285750" indent="-285750">
              <a:buFont typeface="Wingdings" panose="05000000000000000000" pitchFamily="2" charset="2"/>
              <a:buChar char="Ø"/>
            </a:pPr>
            <a:r>
              <a:rPr lang="en-IN" sz="2400" b="1" dirty="0">
                <a:latin typeface="Bodoni MT" panose="02070603080606020203" pitchFamily="18" charset="0"/>
              </a:rPr>
              <a:t>Male consumers dominate revenue.</a:t>
            </a:r>
          </a:p>
          <a:p>
            <a:pPr marL="285750" indent="-285750">
              <a:buFont typeface="Wingdings" panose="05000000000000000000" pitchFamily="2" charset="2"/>
              <a:buChar char="Ø"/>
            </a:pPr>
            <a:r>
              <a:rPr lang="en-IN" sz="2400" b="1" dirty="0">
                <a:latin typeface="Bodoni MT" panose="02070603080606020203" pitchFamily="18" charset="0"/>
              </a:rPr>
              <a:t>Discounts and promo codes increase engagement.</a:t>
            </a:r>
          </a:p>
          <a:p>
            <a:pPr marL="285750" indent="-285750">
              <a:buFont typeface="Wingdings" panose="05000000000000000000" pitchFamily="2" charset="2"/>
              <a:buChar char="Ø"/>
            </a:pPr>
            <a:r>
              <a:rPr lang="en-IN" sz="2400" b="1" dirty="0">
                <a:latin typeface="Bodoni MT" panose="02070603080606020203" pitchFamily="18" charset="0"/>
              </a:rPr>
              <a:t>Repeat customers are highly valuable.</a:t>
            </a:r>
          </a:p>
          <a:p>
            <a:pPr marL="285750" indent="-285750">
              <a:buFont typeface="Wingdings" panose="05000000000000000000" pitchFamily="2" charset="2"/>
              <a:buChar char="Ø"/>
            </a:pPr>
            <a:r>
              <a:rPr lang="en-IN" sz="2400" b="1" dirty="0">
                <a:latin typeface="Bodoni MT" panose="02070603080606020203" pitchFamily="18" charset="0"/>
              </a:rPr>
              <a:t>Subscription adoption is low, there is a growth opportunity.</a:t>
            </a:r>
          </a:p>
        </p:txBody>
      </p:sp>
    </p:spTree>
    <p:extLst>
      <p:ext uri="{BB962C8B-B14F-4D97-AF65-F5344CB8AC3E}">
        <p14:creationId xmlns:p14="http://schemas.microsoft.com/office/powerpoint/2010/main" val="2763021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C3B3DF-3F9D-2778-C88A-B96F853CB4C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D29B1A3-30F0-CC04-54D5-62255662A7F0}"/>
              </a:ext>
            </a:extLst>
          </p:cNvPr>
          <p:cNvSpPr txBox="1"/>
          <p:nvPr/>
        </p:nvSpPr>
        <p:spPr>
          <a:xfrm>
            <a:off x="4337901" y="754145"/>
            <a:ext cx="3516198" cy="523220"/>
          </a:xfrm>
          <a:prstGeom prst="rect">
            <a:avLst/>
          </a:prstGeom>
          <a:noFill/>
        </p:spPr>
        <p:txBody>
          <a:bodyPr wrap="square" rtlCol="0">
            <a:spAutoFit/>
          </a:bodyPr>
          <a:lstStyle/>
          <a:p>
            <a:r>
              <a:rPr lang="en-IN" sz="2800" b="1" u="sng" dirty="0">
                <a:latin typeface="Algerian" panose="04020705040A02060702" pitchFamily="82" charset="0"/>
              </a:rPr>
              <a:t>Recommendations</a:t>
            </a:r>
          </a:p>
        </p:txBody>
      </p:sp>
      <p:sp>
        <p:nvSpPr>
          <p:cNvPr id="5" name="TextBox 4">
            <a:extLst>
              <a:ext uri="{FF2B5EF4-FFF2-40B4-BE49-F238E27FC236}">
                <a16:creationId xmlns:a16="http://schemas.microsoft.com/office/drawing/2014/main" id="{22F41698-0C29-BBFE-9582-015D9A97E867}"/>
              </a:ext>
            </a:extLst>
          </p:cNvPr>
          <p:cNvSpPr txBox="1"/>
          <p:nvPr/>
        </p:nvSpPr>
        <p:spPr>
          <a:xfrm>
            <a:off x="2570375" y="1414021"/>
            <a:ext cx="7051249" cy="3046988"/>
          </a:xfrm>
          <a:prstGeom prst="rect">
            <a:avLst/>
          </a:prstGeom>
          <a:noFill/>
        </p:spPr>
        <p:txBody>
          <a:bodyPr wrap="square" rtlCol="0">
            <a:spAutoFit/>
          </a:bodyPr>
          <a:lstStyle/>
          <a:p>
            <a:pPr marL="285750" indent="-285750">
              <a:buFont typeface="Wingdings" panose="05000000000000000000" pitchFamily="2" charset="2"/>
              <a:buChar char="Ø"/>
            </a:pPr>
            <a:r>
              <a:rPr lang="en-IN" sz="2400" b="1" dirty="0">
                <a:latin typeface="Bodoni MT" panose="02070603080606020203" pitchFamily="18" charset="0"/>
              </a:rPr>
              <a:t>Target female customers with personalised campaigns.</a:t>
            </a:r>
          </a:p>
          <a:p>
            <a:pPr marL="285750" indent="-285750">
              <a:buFont typeface="Wingdings" panose="05000000000000000000" pitchFamily="2" charset="2"/>
              <a:buChar char="Ø"/>
            </a:pPr>
            <a:r>
              <a:rPr lang="en-IN" sz="2400" b="1" dirty="0">
                <a:latin typeface="Bodoni MT" panose="02070603080606020203" pitchFamily="18" charset="0"/>
              </a:rPr>
              <a:t>Increase subscription offers.</a:t>
            </a:r>
          </a:p>
          <a:p>
            <a:pPr marL="285750" indent="-285750">
              <a:buFont typeface="Wingdings" panose="05000000000000000000" pitchFamily="2" charset="2"/>
              <a:buChar char="Ø"/>
            </a:pPr>
            <a:r>
              <a:rPr lang="en-IN" sz="2400" b="1" dirty="0">
                <a:latin typeface="Bodoni MT" panose="02070603080606020203" pitchFamily="18" charset="0"/>
              </a:rPr>
              <a:t>Use limited time discounts to boost conversions.</a:t>
            </a:r>
          </a:p>
          <a:p>
            <a:pPr marL="285750" indent="-285750">
              <a:buFont typeface="Wingdings" panose="05000000000000000000" pitchFamily="2" charset="2"/>
              <a:buChar char="Ø"/>
            </a:pPr>
            <a:r>
              <a:rPr lang="en-IN" sz="2400" b="1" dirty="0">
                <a:latin typeface="Bodoni MT" panose="02070603080606020203" pitchFamily="18" charset="0"/>
              </a:rPr>
              <a:t>Introduce loyalty programmes and reward points system.</a:t>
            </a:r>
          </a:p>
          <a:p>
            <a:pPr marL="285750" indent="-285750">
              <a:buFont typeface="Wingdings" panose="05000000000000000000" pitchFamily="2" charset="2"/>
              <a:buChar char="Ø"/>
            </a:pPr>
            <a:r>
              <a:rPr lang="en-IN" sz="2400" b="1" dirty="0">
                <a:latin typeface="Bodoni MT" panose="02070603080606020203" pitchFamily="18" charset="0"/>
              </a:rPr>
              <a:t>Track and  improve review rating.</a:t>
            </a:r>
          </a:p>
          <a:p>
            <a:pPr marL="285750" indent="-285750">
              <a:buFont typeface="Wingdings" panose="05000000000000000000" pitchFamily="2" charset="2"/>
              <a:buChar char="Ø"/>
            </a:pPr>
            <a:r>
              <a:rPr lang="en-IN" sz="2400" b="1" dirty="0">
                <a:latin typeface="Bodoni MT" panose="02070603080606020203" pitchFamily="18" charset="0"/>
              </a:rPr>
              <a:t>Use customer segmentation for target marketing.</a:t>
            </a:r>
          </a:p>
        </p:txBody>
      </p:sp>
    </p:spTree>
    <p:extLst>
      <p:ext uri="{BB962C8B-B14F-4D97-AF65-F5344CB8AC3E}">
        <p14:creationId xmlns:p14="http://schemas.microsoft.com/office/powerpoint/2010/main" val="15389858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6E4CF0-E99A-9DF6-FE16-01C1526F5D1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00B9105-3A52-05D4-EB54-78D6323EC13E}"/>
              </a:ext>
            </a:extLst>
          </p:cNvPr>
          <p:cNvSpPr txBox="1"/>
          <p:nvPr/>
        </p:nvSpPr>
        <p:spPr>
          <a:xfrm>
            <a:off x="4870516" y="669303"/>
            <a:ext cx="2450968" cy="523220"/>
          </a:xfrm>
          <a:prstGeom prst="rect">
            <a:avLst/>
          </a:prstGeom>
          <a:noFill/>
        </p:spPr>
        <p:txBody>
          <a:bodyPr wrap="square" rtlCol="0">
            <a:spAutoFit/>
          </a:bodyPr>
          <a:lstStyle/>
          <a:p>
            <a:r>
              <a:rPr lang="en-IN" sz="2800" b="1" u="sng" dirty="0">
                <a:latin typeface="Algerian" panose="04020705040A02060702" pitchFamily="82" charset="0"/>
              </a:rPr>
              <a:t>Conclusions</a:t>
            </a:r>
          </a:p>
        </p:txBody>
      </p:sp>
      <p:sp>
        <p:nvSpPr>
          <p:cNvPr id="4" name="TextBox 3">
            <a:extLst>
              <a:ext uri="{FF2B5EF4-FFF2-40B4-BE49-F238E27FC236}">
                <a16:creationId xmlns:a16="http://schemas.microsoft.com/office/drawing/2014/main" id="{160B90B7-FC0F-7E8A-4521-D34D741A13D5}"/>
              </a:ext>
            </a:extLst>
          </p:cNvPr>
          <p:cNvSpPr txBox="1"/>
          <p:nvPr/>
        </p:nvSpPr>
        <p:spPr>
          <a:xfrm>
            <a:off x="3154837" y="2274838"/>
            <a:ext cx="5882325" cy="2308324"/>
          </a:xfrm>
          <a:prstGeom prst="rect">
            <a:avLst/>
          </a:prstGeom>
          <a:noFill/>
        </p:spPr>
        <p:txBody>
          <a:bodyPr wrap="square" rtlCol="0">
            <a:spAutoFit/>
          </a:bodyPr>
          <a:lstStyle/>
          <a:p>
            <a:pPr algn="ctr"/>
            <a:r>
              <a:rPr lang="en-IN" sz="2400" b="1" dirty="0">
                <a:latin typeface="Bodoni MT" panose="02070603080606020203" pitchFamily="18" charset="0"/>
              </a:rPr>
              <a:t>The dataset reveals a loyal, moderately spending customer base with strong dependence on discount. Strategic focus on customer retention, subscription growth and targeted marketing can significantly improve business performance.</a:t>
            </a:r>
          </a:p>
        </p:txBody>
      </p:sp>
    </p:spTree>
    <p:extLst>
      <p:ext uri="{BB962C8B-B14F-4D97-AF65-F5344CB8AC3E}">
        <p14:creationId xmlns:p14="http://schemas.microsoft.com/office/powerpoint/2010/main" val="8292554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3FDB99-1EFC-BA6A-136B-02D5D36A665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CE63756-B283-9029-DB56-68FF44D831DE}"/>
              </a:ext>
            </a:extLst>
          </p:cNvPr>
          <p:cNvSpPr txBox="1"/>
          <p:nvPr/>
        </p:nvSpPr>
        <p:spPr>
          <a:xfrm>
            <a:off x="4314334" y="2598003"/>
            <a:ext cx="3563332" cy="830997"/>
          </a:xfrm>
          <a:prstGeom prst="rect">
            <a:avLst/>
          </a:prstGeom>
          <a:noFill/>
        </p:spPr>
        <p:txBody>
          <a:bodyPr wrap="square" rtlCol="0">
            <a:spAutoFit/>
          </a:bodyPr>
          <a:lstStyle/>
          <a:p>
            <a:r>
              <a:rPr lang="en-IN" sz="4800" b="1" dirty="0">
                <a:latin typeface="Algerian" panose="04020705040A02060702" pitchFamily="82" charset="0"/>
              </a:rPr>
              <a:t>Thank you</a:t>
            </a:r>
          </a:p>
        </p:txBody>
      </p:sp>
    </p:spTree>
    <p:extLst>
      <p:ext uri="{BB962C8B-B14F-4D97-AF65-F5344CB8AC3E}">
        <p14:creationId xmlns:p14="http://schemas.microsoft.com/office/powerpoint/2010/main" val="54761778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TM03457496[[fn=Parallax]]</Template>
  <TotalTime>101</TotalTime>
  <Words>246</Words>
  <Application>Microsoft Office PowerPoint</Application>
  <PresentationFormat>Widescreen</PresentationFormat>
  <Paragraphs>34</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Algerian</vt:lpstr>
      <vt:lpstr>Arial</vt:lpstr>
      <vt:lpstr>Bodoni MT</vt:lpstr>
      <vt:lpstr>Corbel</vt:lpstr>
      <vt:lpstr>Wingdings</vt:lpstr>
      <vt:lpstr>Parallax</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Pratik Pati</dc:creator>
  <cp:lastModifiedBy>Pratik Pati</cp:lastModifiedBy>
  <cp:revision>1</cp:revision>
  <dcterms:created xsi:type="dcterms:W3CDTF">2026-04-30T10:22:56Z</dcterms:created>
  <dcterms:modified xsi:type="dcterms:W3CDTF">2026-04-30T12:04:38Z</dcterms:modified>
</cp:coreProperties>
</file>